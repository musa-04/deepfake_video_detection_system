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0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17535-F7E5-4EEE-BE8B-09A69A79CD6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6B23D-4260-4909-990C-5196AADDA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07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B8B3498-77D5-445D-9A6F-3A1014BA469A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360C-A998-4783-95A7-C4FA4C67B521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696D-19F3-4655-A4D7-EAB98A2CA296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9D3E2-E72F-48DC-8FF7-DE48328B48AF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39676-6709-4145-9B73-DE2DE29A2F0F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7B82-BACF-4514-A925-FE52AF0810A0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333D-4EB8-408C-8F51-434C202B2643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D3C3-B2B7-4F78-B8AE-7382F52633C1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45E5F83-81F3-42B5-9E29-85FE70050F94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3F3A-3687-4D33-B224-6D266B680276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DB02-0707-4104-A813-BBD618645AEC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B9F425A-7100-4E54-BE69-116812709BA9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A Privacy preserving and accessible deep fake video detection system using face based analysis                                                 Page no.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31" y="249570"/>
            <a:ext cx="9630032" cy="1106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4184" y="1474573"/>
            <a:ext cx="1168949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ENGINEERING 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PRIVACY PRESERVING &amp; ACCESSIBLE DEEP FAKE VIDEO DETECTION SYSTEM </a:t>
            </a:r>
            <a:r>
              <a:rPr lang="en-US" sz="24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BASED ANALYSIS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Vijay Kumar M. Awatiger 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Mustafeez Shaikh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Sakib M Goundi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Sanjana Jinaral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Sanskriti Singh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2067" y="6529984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1</a:t>
            </a:r>
            <a:endParaRPr lang="en-US" dirty="0"/>
          </a:p>
        </p:txBody>
      </p:sp>
      <p:pic>
        <p:nvPicPr>
          <p:cNvPr id="9" name="Picture 8" descr="Don’t Be Fooled by Digital Deception!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436" y="3645020"/>
            <a:ext cx="5769927" cy="288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7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4184" y="296562"/>
            <a:ext cx="11648302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 WE WILL SEE :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&amp; Architecture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 &amp; Discussion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&amp; Limitations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661" y="2001838"/>
            <a:ext cx="4105059" cy="214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8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3" y="313038"/>
            <a:ext cx="689404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videos are AI-generated manipulated videos that alter facial expressions,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movements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Recent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in deep learning have made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misused for misinformation, fraud, identity theft, and political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by humans is unreliable due to high visual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realism.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automated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systems are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show most manipulation artifacts, making face-based analysis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effective.</a:t>
            </a:r>
            <a:endParaRPr lang="en-US" dirty="0" smtClean="0"/>
          </a:p>
        </p:txBody>
      </p:sp>
      <p:pic>
        <p:nvPicPr>
          <p:cNvPr id="1028" name="Picture 4" descr="Deconstructing Deepfakes—How do they work and what are the risks? | U.S. GA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64"/>
          <a:stretch/>
        </p:blipFill>
        <p:spPr bwMode="auto">
          <a:xfrm>
            <a:off x="7734383" y="1946412"/>
            <a:ext cx="3828043" cy="264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42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/>
              <a:t>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3" y="313038"/>
            <a:ext cx="689404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videos are becoming increasingly realistic and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widespread.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lack reliable tools to verify video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authenticity.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Deep Fake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expertise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publicly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compromise user privacy by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storing there details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simple, secure, and efficient solution available for public use.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a video is real or manipulated remains a major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Dangers of AI - Artificial Intelligence - Devathon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768" y="2188480"/>
            <a:ext cx="4164674" cy="215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80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3" y="313038"/>
            <a:ext cx="68940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publicly accessible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detection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user privacy by avoiding permanent data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facial features for identifying video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videos as REAL or FAKE with a confidence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that is easy to use for non-technical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Unravelling Deep Model Artefacts for Deepfake Videos Dete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013" y="466452"/>
            <a:ext cx="4334047" cy="243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ạch trần tội phạm sử dụng công nghệ &lt;strong&gt;Deepfake&lt;/strong&gt; ghép mặt và giọng nói để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705" y="3163330"/>
            <a:ext cx="4434661" cy="249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4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/>
              <a:t>6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3" y="313038"/>
            <a:ext cx="11540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122616"/>
              </p:ext>
            </p:extLst>
          </p:nvPr>
        </p:nvGraphicFramePr>
        <p:xfrm>
          <a:off x="334144" y="941766"/>
          <a:ext cx="11434801" cy="543008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4165">
                  <a:extLst>
                    <a:ext uri="{9D8B030D-6E8A-4147-A177-3AD203B41FA5}">
                      <a16:colId xmlns:a16="http://schemas.microsoft.com/office/drawing/2014/main" val="984366633"/>
                    </a:ext>
                  </a:extLst>
                </a:gridCol>
                <a:gridCol w="1717639">
                  <a:extLst>
                    <a:ext uri="{9D8B030D-6E8A-4147-A177-3AD203B41FA5}">
                      <a16:colId xmlns:a16="http://schemas.microsoft.com/office/drawing/2014/main" val="3873640503"/>
                    </a:ext>
                  </a:extLst>
                </a:gridCol>
                <a:gridCol w="693507">
                  <a:extLst>
                    <a:ext uri="{9D8B030D-6E8A-4147-A177-3AD203B41FA5}">
                      <a16:colId xmlns:a16="http://schemas.microsoft.com/office/drawing/2014/main" val="758713777"/>
                    </a:ext>
                  </a:extLst>
                </a:gridCol>
                <a:gridCol w="2548235">
                  <a:extLst>
                    <a:ext uri="{9D8B030D-6E8A-4147-A177-3AD203B41FA5}">
                      <a16:colId xmlns:a16="http://schemas.microsoft.com/office/drawing/2014/main" val="1625827177"/>
                    </a:ext>
                  </a:extLst>
                </a:gridCol>
                <a:gridCol w="3386893">
                  <a:extLst>
                    <a:ext uri="{9D8B030D-6E8A-4147-A177-3AD203B41FA5}">
                      <a16:colId xmlns:a16="http://schemas.microsoft.com/office/drawing/2014/main" val="1717847801"/>
                    </a:ext>
                  </a:extLst>
                </a:gridCol>
                <a:gridCol w="2564362">
                  <a:extLst>
                    <a:ext uri="{9D8B030D-6E8A-4147-A177-3AD203B41FA5}">
                      <a16:colId xmlns:a16="http://schemas.microsoft.com/office/drawing/2014/main" val="172625544"/>
                    </a:ext>
                  </a:extLst>
                </a:gridCol>
              </a:tblGrid>
              <a:tr h="22658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Sno.</a:t>
                      </a:r>
                      <a:r>
                        <a:rPr lang="en-US" sz="18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40507" marR="40507" marT="20253" marB="20253" anchor="ctr"/>
                </a:tc>
                <a:extLst>
                  <a:ext uri="{0D108BD9-81ED-4DB2-BD59-A6C34878D82A}">
                    <a16:rowId xmlns:a16="http://schemas.microsoft.com/office/drawing/2014/main" val="3675379096"/>
                  </a:ext>
                </a:extLst>
              </a:tr>
              <a:tr h="11597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Md.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Ferdous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A. Fattah, A. K. Bashar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EfficientNet-based Deepfake Classification Framework for Social Media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EfficientNet CNN for accurate deepfake video classification, aligning with our model choice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consider user privacy or public accessibility</a:t>
                      </a:r>
                    </a:p>
                  </a:txBody>
                  <a:tcPr marL="40507" marR="40507" marT="20253" marB="20253" anchor="ctr"/>
                </a:tc>
                <a:extLst>
                  <a:ext uri="{0D108BD9-81ED-4DB2-BD59-A6C34878D82A}">
                    <a16:rowId xmlns:a16="http://schemas.microsoft.com/office/drawing/2014/main" val="3363886194"/>
                  </a:ext>
                </a:extLst>
              </a:tr>
              <a:tr h="10736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Huy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Dang, Feng Liu, Julian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Stehouwer,Anil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K. Jain</a:t>
                      </a:r>
                      <a:endParaRPr lang="en-IN" sz="16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the Detection of Digital Face Manipulation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detecting facial manipulation artifacts, directly supporting face-based analysis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</a:t>
                      </a:r>
                    </a:p>
                  </a:txBody>
                  <a:tcPr marL="40507" marR="40507" marT="20253" marB="20253" anchor="ctr"/>
                </a:tc>
                <a:extLst>
                  <a:ext uri="{0D108BD9-81ED-4DB2-BD59-A6C34878D82A}">
                    <a16:rowId xmlns:a16="http://schemas.microsoft.com/office/drawing/2014/main" val="3272952715"/>
                  </a:ext>
                </a:extLst>
              </a:tr>
              <a:tr h="9041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Yuezun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Wu, Xuan Jiang,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Yandong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Deepfake Video Detection with Spatiotemporal Attention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spatial and temporal features for video-level detection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processing resources</a:t>
                      </a:r>
                    </a:p>
                  </a:txBody>
                  <a:tcPr marL="40507" marR="40507" marT="20253" marB="20253" anchor="ctr"/>
                </a:tc>
                <a:extLst>
                  <a:ext uri="{0D108BD9-81ED-4DB2-BD59-A6C34878D82A}">
                    <a16:rowId xmlns:a16="http://schemas.microsoft.com/office/drawing/2014/main" val="3993681819"/>
                  </a:ext>
                </a:extLst>
              </a:tr>
              <a:tr h="9041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 Sun, Di Zhang, Tao Liu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DeepFake Detection Using Biological Signals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facial physiological signals for detecting deepfakes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feature extraction and implementation</a:t>
                      </a:r>
                    </a:p>
                  </a:txBody>
                  <a:tcPr marL="40507" marR="40507" marT="20253" marB="20253" anchor="ctr"/>
                </a:tc>
                <a:extLst>
                  <a:ext uri="{0D108BD9-81ED-4DB2-BD59-A6C34878D82A}">
                    <a16:rowId xmlns:a16="http://schemas.microsoft.com/office/drawing/2014/main" val="1760876048"/>
                  </a:ext>
                </a:extLst>
              </a:tr>
              <a:tr h="10736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Andreas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Rössler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Davide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Cozzolino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Luisa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Verdoliva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Christian </a:t>
                      </a:r>
                      <a:r>
                        <a:rPr lang="en-IN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Riess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FaceForensics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++: Learning to Detect Manipulated Facial Images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standard benchmark dataset for training and evaluation</a:t>
                      </a:r>
                    </a:p>
                  </a:txBody>
                  <a:tcPr marL="40507" marR="40507" marT="20253" marB="2025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to unseen manipulations</a:t>
                      </a:r>
                    </a:p>
                  </a:txBody>
                  <a:tcPr marL="40507" marR="40507" marT="20253" marB="20253" anchor="ctr"/>
                </a:tc>
                <a:extLst>
                  <a:ext uri="{0D108BD9-81ED-4DB2-BD59-A6C34878D82A}">
                    <a16:rowId xmlns:a16="http://schemas.microsoft.com/office/drawing/2014/main" val="2866369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00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3" y="313038"/>
            <a:ext cx="55842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OVERVIEW: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uploads a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video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temporarily.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are analyzed using deep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includes: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FAKE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8 suspicious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" t="10011" r="4647" b="15937"/>
          <a:stretch/>
        </p:blipFill>
        <p:spPr>
          <a:xfrm>
            <a:off x="7113556" y="4581549"/>
            <a:ext cx="4584850" cy="19311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11212" r="4692" b="13296"/>
          <a:stretch/>
        </p:blipFill>
        <p:spPr>
          <a:xfrm>
            <a:off x="7113556" y="2430817"/>
            <a:ext cx="4584850" cy="201827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" t="10953" r="3142" b="8199"/>
          <a:stretch/>
        </p:blipFill>
        <p:spPr>
          <a:xfrm>
            <a:off x="7113556" y="115331"/>
            <a:ext cx="4584852" cy="218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9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29984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/>
              <a:t>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3" y="354227"/>
            <a:ext cx="547713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&amp; ARCHITECTURE: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(Flask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(EfficientNet-B7 + MTCNN)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6355"/>
          <a:stretch/>
        </p:blipFill>
        <p:spPr>
          <a:xfrm>
            <a:off x="4628075" y="898835"/>
            <a:ext cx="2173237" cy="43697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588" y="898834"/>
            <a:ext cx="5025957" cy="4369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28075" y="5502876"/>
            <a:ext cx="7383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	                    System Architecture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54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 Page no. </a:t>
            </a:r>
            <a:r>
              <a:rPr lang="en-US" dirty="0"/>
              <a:t>9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72877" y="177943"/>
                <a:ext cx="6129120" cy="6552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METHODOLOGY:</a:t>
                </a:r>
              </a:p>
              <a:p>
                <a:pPr algn="just"/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Video → Frame 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Extraction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video contains multiple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frames.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frames is computationally expensive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T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Total number of frames in the video</a:t>
                </a:r>
              </a:p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N 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32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(number of frames to extract)</a:t>
                </a:r>
              </a:p>
              <a:p>
                <a:r>
                  <a:rPr lang="en-US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</a:t>
                </a:r>
                <a:r>
                  <a:rPr lang="en-US" sz="14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frame index (0 to N−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formula?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Ensures frames are uniformly selected across the video timeline.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N = 32?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Covers entire video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Reduces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computational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Maintains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detection accuracy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77" y="177943"/>
                <a:ext cx="6129120" cy="6552371"/>
              </a:xfrm>
              <a:prstGeom prst="rect">
                <a:avLst/>
              </a:prstGeom>
              <a:blipFill>
                <a:blip r:embed="rId2"/>
                <a:stretch>
                  <a:fillRect l="-1592" t="-744" r="-1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58" y="1513367"/>
            <a:ext cx="5323813" cy="2759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31458" y="4387689"/>
            <a:ext cx="44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workflow diagram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8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 </a:t>
            </a:r>
            <a:r>
              <a:rPr lang="en-US" dirty="0" smtClean="0"/>
              <a:t>Page no. </a:t>
            </a:r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684" y="313038"/>
            <a:ext cx="504876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Frames → Face Regions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detected and aligned using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MTCNN.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regions are extracted from frames.</a:t>
            </a:r>
          </a:p>
          <a:p>
            <a:pPr>
              <a:lnSpc>
                <a:spcPct val="150000"/>
              </a:lnSpc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face-based processing?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artifacts mainly appear 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privacy.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484" y="635806"/>
            <a:ext cx="3787468" cy="522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5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 Page </a:t>
            </a:r>
            <a:r>
              <a:rPr lang="en-US" dirty="0" smtClean="0"/>
              <a:t>no. </a:t>
            </a:r>
            <a:r>
              <a:rPr lang="en-US" dirty="0" smtClean="0"/>
              <a:t>11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04682" y="313038"/>
                <a:ext cx="6416247" cy="5847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METHODOLOGY: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Face 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Pre-processing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Extracted faces are resized and standardized.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Pixel normalization is applied.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𝝈</m:t>
                        </m:r>
                      </m:den>
                    </m:f>
                  </m:oMath>
                </a14:m>
                <a:r>
                  <a:rPr lang="en-US" sz="2000" dirty="0" smtClean="0"/>
                  <a:t>       </a:t>
                </a:r>
                <a:r>
                  <a:rPr lang="en-US" sz="1400" dirty="0" smtClean="0"/>
                  <a:t> </a:t>
                </a:r>
                <a:r>
                  <a:rPr lang="el-GR" sz="1400" dirty="0" smtClean="0"/>
                  <a:t>Where:</a:t>
                </a:r>
                <a:r>
                  <a:rPr lang="en-US" sz="1400" dirty="0" smtClean="0"/>
                  <a:t>     </a:t>
                </a:r>
                <a:r>
                  <a:rPr lang="el-GR" sz="1400" b="1" dirty="0" smtClean="0"/>
                  <a:t>μ </a:t>
                </a:r>
                <a:r>
                  <a:rPr lang="el-GR" sz="1400" b="1" dirty="0"/>
                  <a:t>= (0.485, 0.456, 0.406)</a:t>
                </a:r>
                <a:endParaRPr lang="el-GR" sz="1400" dirty="0"/>
              </a:p>
              <a:p>
                <a:r>
                  <a:rPr lang="en-US" sz="1400" b="1" dirty="0" smtClean="0"/>
                  <a:t>							</a:t>
                </a:r>
                <a:r>
                  <a:rPr lang="el-GR" sz="1400" b="1" dirty="0" smtClean="0"/>
                  <a:t>σ </a:t>
                </a:r>
                <a:r>
                  <a:rPr lang="el-GR" sz="1400" b="1" dirty="0"/>
                  <a:t>= (0.229, 0.224, 0.225</a:t>
                </a:r>
                <a:r>
                  <a:rPr lang="el-GR" sz="1400" b="1" dirty="0" smtClean="0"/>
                  <a:t>)</a:t>
                </a:r>
                <a:endParaRPr lang="en-US" sz="1400" b="1" dirty="0" smtClean="0"/>
              </a:p>
              <a:p>
                <a:endParaRPr lang="en-US" sz="1400" dirty="0" smtClean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 (mean):</a:t>
                </a:r>
                <a:r>
                  <a:rPr lang="en-US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Average pixel intensity for each RGB channel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(standard deviation):</a:t>
                </a:r>
                <a:r>
                  <a:rPr lang="en-US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Spread of pixel values for each RGB channel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formula?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EfficientNet-B7 is pre-trained on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ImageNet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Matches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EfficientNet-B7 training input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conditions.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Improves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stability and prediction consistency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2" y="313038"/>
                <a:ext cx="6416247" cy="5847948"/>
              </a:xfrm>
              <a:prstGeom prst="rect">
                <a:avLst/>
              </a:prstGeom>
              <a:blipFill>
                <a:blip r:embed="rId2"/>
                <a:stretch>
                  <a:fillRect l="-1425" t="-8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235" y="767611"/>
            <a:ext cx="3787468" cy="522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65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781" y="197708"/>
            <a:ext cx="54606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algn="just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Frame-wise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pre-processed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is passed to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EfficientNet-B7.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 fake probability per frame.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∈ [0,1]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≈ 0 → REAL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≈ 1 →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343136" y="551935"/>
                <a:ext cx="5552302" cy="5686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Frame Predictions → Video Decision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frame-wise probabilities are aggregated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𝒑𝒊</m:t>
                        </m:r>
                      </m:e>
                    </m:nary>
                  </m:oMath>
                </a14:m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r>
                  <a:rPr lang="en-US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k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valid frames</a:t>
                </a:r>
              </a:p>
              <a:p>
                <a:r>
                  <a:rPr lang="en-US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pᵢ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Fake probability of each 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frame</a:t>
                </a:r>
                <a:endParaRPr lang="en-IN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aggregation?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Avoids incorrect classification due to single frame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errors.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stable video-level prediction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Rule: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≥ 0.5 → FAKE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&lt; 0.5 →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136" y="551935"/>
                <a:ext cx="5552302" cy="5686365"/>
              </a:xfrm>
              <a:prstGeom prst="rect">
                <a:avLst/>
              </a:prstGeom>
              <a:blipFill>
                <a:blip r:embed="rId2"/>
                <a:stretch>
                  <a:fillRect l="-1209" r="-1209" b="-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1" y="4884509"/>
            <a:ext cx="5680127" cy="107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0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no.13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5330" y="313038"/>
            <a:ext cx="706806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IMPLEMENTATTION: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Implementation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Frontend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to upload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results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upload with format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 during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FAKE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result, Confidence score, Suspicious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responsive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backend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" t="10953" r="3142" b="8199"/>
          <a:stretch/>
        </p:blipFill>
        <p:spPr>
          <a:xfrm>
            <a:off x="7327740" y="134615"/>
            <a:ext cx="4584852" cy="2183026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11212" r="4692" b="13296"/>
          <a:stretch/>
        </p:blipFill>
        <p:spPr>
          <a:xfrm>
            <a:off x="7327740" y="2393184"/>
            <a:ext cx="4584850" cy="201827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" t="10011" r="4647" b="15937"/>
          <a:stretch/>
        </p:blipFill>
        <p:spPr>
          <a:xfrm>
            <a:off x="7327740" y="4528089"/>
            <a:ext cx="4584850" cy="193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806" y="246817"/>
            <a:ext cx="117883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IMPLEMENTATTION: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Implementation (Flask API)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Backend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bridge between frontend and ML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upload and processing workflow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video file from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&amp;Temporarily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ML detection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back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Flask is used: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fast. Ideal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ML-based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APIs &amp; Easy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Python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57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806" y="246817"/>
            <a:ext cx="117883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IMPLEMENTATTION: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Core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Extracts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uniformly sampled frames from video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Module (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MTCNN)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Detects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aligns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faces &amp; Crops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regions only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Module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Resizes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 to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380×380 &amp; Applies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EfficientNet-B7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fake probability per frame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Averages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frame-wise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 &amp; Produces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video-level decision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support for deep learning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GPU/CPU execution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model integration</a:t>
            </a:r>
          </a:p>
        </p:txBody>
      </p:sp>
    </p:spTree>
    <p:extLst>
      <p:ext uri="{BB962C8B-B14F-4D97-AF65-F5344CB8AC3E}">
        <p14:creationId xmlns:p14="http://schemas.microsoft.com/office/powerpoint/2010/main" val="3200763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807" y="246817"/>
            <a:ext cx="626899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DISCUSSION:</a:t>
            </a:r>
          </a:p>
          <a:p>
            <a:pPr algn="just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on FAKE Videos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for most fake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videos:</a:t>
            </a:r>
          </a:p>
          <a:p>
            <a:pPr lvl="1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range: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95% – 99%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video showed lower accuracy due to:</a:t>
            </a:r>
          </a:p>
          <a:p>
            <a:pPr lvl="1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size, Poor lighting, Complex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motion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ranged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20–45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videos require more processing time because: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manipulation artifacts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facial distortions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confirms the model’s ability to detect: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inconsistencies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Unnatural facial blending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GAN-generated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artifacts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2" y="246817"/>
            <a:ext cx="5247958" cy="2977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0521" y="3234769"/>
            <a:ext cx="533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on Fake Videos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996" y="3553134"/>
            <a:ext cx="5276564" cy="29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2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807" y="246817"/>
            <a:ext cx="626899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on REAL Videos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93% – 98%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was significantly lower: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3–4 seconds per video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 video was misclassified as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 is due to: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manipulation artifacts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Cleaner facial textures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false-positive rate shows: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reliability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generalization capability</a:t>
            </a:r>
          </a:p>
          <a:p>
            <a:pPr algn="just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0521" y="3234769"/>
            <a:ext cx="533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on Fake Videos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88" y="3533811"/>
            <a:ext cx="4989920" cy="29714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88" y="109124"/>
            <a:ext cx="4801702" cy="312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2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18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2490" y="258003"/>
            <a:ext cx="571819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LIMITATIONS:</a:t>
            </a:r>
          </a:p>
          <a:p>
            <a:pPr algn="just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Accuracy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Processing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Face-Based Analysis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Interface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Video-Level Decision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23295" y="935726"/>
            <a:ext cx="59645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Poor Lighting Conditions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Processing Time for Fake Videos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Deep Fakes Not Detected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Multi-Face Handling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Dependency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795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19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806" y="246817"/>
            <a:ext cx="117883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detection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face-based analysis.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accurately classifies videos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or FAKE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deep learning techniques.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misclassification.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sampling and aggregation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stable video-level decisions.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is preserved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storing user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system suitable for public use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Detection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Extend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manipulated audio along with video.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 streams for real-time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Fake detection.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Enhance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to handle multiple faces in group videos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329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20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806" y="246817"/>
            <a:ext cx="11788345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Md.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Ferdous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S. A. Fattah, and A. K. Bashar,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Framework for Social Media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Intelligent &amp; Fuzzy Systems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vol. 44, no. 1, pp. 951–963, 2023.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Yuezun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Wu, Xuan Jiang, and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Yandong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Ren,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Video Detection with Spatiotemporal Attention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130, pp. 108–120, 2022.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Dang, Feng Liu, Julian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Stehouwer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Xiaoming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Liu, and Anil K. Jain,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 Detection of Digital Face Manipulation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vol. 44, no. 4, pp. 2313–2327, 2022.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Peng Sun, Di Zhang, and Tao Liu,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Biological Signals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vol. 16, pp. 4578–4593, 2021.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Andreas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Rössler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Davide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Cozzolino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Luisa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Verdoliva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Christian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Riess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Justus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Thies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Matthias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Nießner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++: Learning to Detect Manipulated Facial Images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IEEE/CVF International Conference on Computer Vision (ICCV)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22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683" y="6505270"/>
            <a:ext cx="11293725" cy="225044"/>
          </a:xfrm>
        </p:spPr>
        <p:txBody>
          <a:bodyPr/>
          <a:lstStyle/>
          <a:p>
            <a:r>
              <a:rPr lang="en-US" dirty="0" smtClean="0"/>
              <a:t>A Privacy preserving and accessible deep fake video detection system using face based analysis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Page </a:t>
            </a:r>
            <a:r>
              <a:rPr lang="en-US" dirty="0" smtClean="0"/>
              <a:t>no. </a:t>
            </a:r>
            <a:r>
              <a:rPr lang="en-US" dirty="0" smtClean="0"/>
              <a:t>21</a:t>
            </a:r>
            <a:endParaRPr lang="en-US" dirty="0"/>
          </a:p>
        </p:txBody>
      </p:sp>
      <p:pic>
        <p:nvPicPr>
          <p:cNvPr id="3" name="Picture 2" descr="Thank You &lt;strong&gt;Any Question&lt;/strong&gt; Images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10" b="26607"/>
          <a:stretch/>
        </p:blipFill>
        <p:spPr>
          <a:xfrm>
            <a:off x="2667000" y="2092410"/>
            <a:ext cx="6858000" cy="294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4934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353</TotalTime>
  <Words>1626</Words>
  <Application>Microsoft Office PowerPoint</Application>
  <PresentationFormat>Widescreen</PresentationFormat>
  <Paragraphs>316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32</cp:revision>
  <dcterms:created xsi:type="dcterms:W3CDTF">2026-01-08T06:07:25Z</dcterms:created>
  <dcterms:modified xsi:type="dcterms:W3CDTF">2026-01-08T12:12:41Z</dcterms:modified>
</cp:coreProperties>
</file>